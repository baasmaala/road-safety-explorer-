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(IHME)</c:v>
                </c:pt>
              </c:strCache>
            </c:strRef>
          </c:tx>
          <c:spPr>
            <a:solidFill>
              <a:srgbClr val="0A0A0A"/>
            </a:solidFill>
            <a:ln w="31750" cap="flat">
              <a:solidFill>
                <a:srgbClr val="0A0A0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A0A0A"/>
              </a:solidFill>
              <a:ln w="9525" cap="flat">
                <a:solidFill>
                  <a:srgbClr val="0A0A0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</c:f>
              <c:multiLvlStrCache>
                <c:ptCount val="33"/>
                <c:lvl>
                  <c:pt idx="0">
                    <c:v>1990</c:v>
                  </c:pt>
                  <c:pt idx="1">
                    <c:v>1991</c:v>
                  </c:pt>
                  <c:pt idx="2">
                    <c:v>1992</c:v>
                  </c:pt>
                  <c:pt idx="3">
                    <c:v>1993</c:v>
                  </c:pt>
                  <c:pt idx="4">
                    <c:v>1994</c:v>
                  </c:pt>
                  <c:pt idx="5">
                    <c:v>1995</c:v>
                  </c:pt>
                  <c:pt idx="6">
                    <c:v>1996</c:v>
                  </c:pt>
                  <c:pt idx="7">
                    <c:v>1997</c:v>
                  </c:pt>
                  <c:pt idx="8">
                    <c:v>1998</c:v>
                  </c:pt>
                  <c:pt idx="9">
                    <c:v>1999</c:v>
                  </c:pt>
                  <c:pt idx="10">
                    <c:v>2000</c:v>
                  </c:pt>
                  <c:pt idx="11">
                    <c:v>2001</c:v>
                  </c:pt>
                  <c:pt idx="12">
                    <c:v>2002</c:v>
                  </c:pt>
                  <c:pt idx="13">
                    <c:v>2003</c:v>
                  </c:pt>
                  <c:pt idx="14">
                    <c:v>2004</c:v>
                  </c:pt>
                  <c:pt idx="15">
                    <c:v>2005</c:v>
                  </c:pt>
                  <c:pt idx="16">
                    <c:v>2006</c:v>
                  </c:pt>
                  <c:pt idx="17">
                    <c:v>2007</c:v>
                  </c:pt>
                  <c:pt idx="18">
                    <c:v>2008</c:v>
                  </c:pt>
                  <c:pt idx="19">
                    <c:v>2009</c:v>
                  </c:pt>
                  <c:pt idx="20">
                    <c:v>2010</c:v>
                  </c:pt>
                  <c:pt idx="21">
                    <c:v>2011</c:v>
                  </c:pt>
                  <c:pt idx="22">
                    <c:v>2012</c:v>
                  </c:pt>
                  <c:pt idx="23">
                    <c:v>2013</c:v>
                  </c:pt>
                  <c:pt idx="24">
                    <c:v>2014</c:v>
                  </c:pt>
                  <c:pt idx="25">
                    <c:v>2015</c:v>
                  </c:pt>
                  <c:pt idx="26">
                    <c:v>2016</c:v>
                  </c:pt>
                  <c:pt idx="27">
                    <c:v>2017</c:v>
                  </c:pt>
                  <c:pt idx="28">
                    <c:v>2018</c:v>
                  </c:pt>
                  <c:pt idx="29">
                    <c:v>2019</c:v>
                  </c:pt>
                  <c:pt idx="30">
                    <c:v>2020</c:v>
                  </c:pt>
                  <c:pt idx="31">
                    <c:v>2021</c:v>
                  </c:pt>
                  <c:pt idx="32">
                    <c:v>2022</c:v>
                  </c:pt>
                </c:lvl>
              </c:multiLvlStrCache>
            </c:multiLvl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14.99</c:v>
                </c:pt>
                <c:pt idx="1">
                  <c:v>14.42</c:v>
                </c:pt>
                <c:pt idx="2">
                  <c:v>13.77</c:v>
                </c:pt>
                <c:pt idx="3">
                  <c:v>13.13</c:v>
                </c:pt>
                <c:pt idx="4">
                  <c:v>12.47</c:v>
                </c:pt>
                <c:pt idx="5">
                  <c:v>11.91</c:v>
                </c:pt>
                <c:pt idx="6">
                  <c:v>11.45</c:v>
                </c:pt>
                <c:pt idx="7">
                  <c:v>10.97</c:v>
                </c:pt>
                <c:pt idx="8">
                  <c:v>10.43</c:v>
                </c:pt>
                <c:pt idx="9">
                  <c:v>9.9</c:v>
                </c:pt>
                <c:pt idx="10">
                  <c:v>9.65</c:v>
                </c:pt>
                <c:pt idx="11">
                  <c:v>9.42</c:v>
                </c:pt>
                <c:pt idx="12">
                  <c:v>9.2</c:v>
                </c:pt>
                <c:pt idx="13">
                  <c:v>9.05</c:v>
                </c:pt>
                <c:pt idx="14">
                  <c:v>8.95</c:v>
                </c:pt>
                <c:pt idx="15">
                  <c:v>8.8</c:v>
                </c:pt>
                <c:pt idx="16">
                  <c:v>8.65</c:v>
                </c:pt>
                <c:pt idx="17">
                  <c:v>8.55</c:v>
                </c:pt>
                <c:pt idx="18">
                  <c:v>8.4</c:v>
                </c:pt>
                <c:pt idx="19">
                  <c:v>8.3</c:v>
                </c:pt>
                <c:pt idx="20">
                  <c:v>8.25</c:v>
                </c:pt>
                <c:pt idx="21">
                  <c:v>8.2</c:v>
                </c:pt>
                <c:pt idx="22">
                  <c:v>8.15</c:v>
                </c:pt>
                <c:pt idx="23">
                  <c:v>8.1</c:v>
                </c:pt>
                <c:pt idx="24">
                  <c:v>8.05</c:v>
                </c:pt>
                <c:pt idx="25">
                  <c:v>8</c:v>
                </c:pt>
                <c:pt idx="26">
                  <c:v>7.95</c:v>
                </c:pt>
                <c:pt idx="27">
                  <c:v>7.91</c:v>
                </c:pt>
                <c:pt idx="28">
                  <c:v>7.88</c:v>
                </c:pt>
                <c:pt idx="29">
                  <c:v>7.849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ARIMA forecast</c:v>
                </c:pt>
              </c:strCache>
            </c:strRef>
          </c:tx>
          <c:spPr>
            <a:solidFill>
              <a:srgbClr val="C6FF3D"/>
            </a:solidFill>
            <a:ln w="31750" cap="flat">
              <a:solidFill>
                <a:srgbClr val="C6FF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6FF3D"/>
              </a:solidFill>
              <a:ln w="9525" cap="flat">
                <a:solidFill>
                  <a:srgbClr val="C6FF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</c:f>
              <c:multiLvlStrCache>
                <c:ptCount val="33"/>
                <c:lvl>
                  <c:pt idx="0">
                    <c:v>1990</c:v>
                  </c:pt>
                  <c:pt idx="1">
                    <c:v>1991</c:v>
                  </c:pt>
                  <c:pt idx="2">
                    <c:v>1992</c:v>
                  </c:pt>
                  <c:pt idx="3">
                    <c:v>1993</c:v>
                  </c:pt>
                  <c:pt idx="4">
                    <c:v>1994</c:v>
                  </c:pt>
                  <c:pt idx="5">
                    <c:v>1995</c:v>
                  </c:pt>
                  <c:pt idx="6">
                    <c:v>1996</c:v>
                  </c:pt>
                  <c:pt idx="7">
                    <c:v>1997</c:v>
                  </c:pt>
                  <c:pt idx="8">
                    <c:v>1998</c:v>
                  </c:pt>
                  <c:pt idx="9">
                    <c:v>1999</c:v>
                  </c:pt>
                  <c:pt idx="10">
                    <c:v>2000</c:v>
                  </c:pt>
                  <c:pt idx="11">
                    <c:v>2001</c:v>
                  </c:pt>
                  <c:pt idx="12">
                    <c:v>2002</c:v>
                  </c:pt>
                  <c:pt idx="13">
                    <c:v>2003</c:v>
                  </c:pt>
                  <c:pt idx="14">
                    <c:v>2004</c:v>
                  </c:pt>
                  <c:pt idx="15">
                    <c:v>2005</c:v>
                  </c:pt>
                  <c:pt idx="16">
                    <c:v>2006</c:v>
                  </c:pt>
                  <c:pt idx="17">
                    <c:v>2007</c:v>
                  </c:pt>
                  <c:pt idx="18">
                    <c:v>2008</c:v>
                  </c:pt>
                  <c:pt idx="19">
                    <c:v>2009</c:v>
                  </c:pt>
                  <c:pt idx="20">
                    <c:v>2010</c:v>
                  </c:pt>
                  <c:pt idx="21">
                    <c:v>2011</c:v>
                  </c:pt>
                  <c:pt idx="22">
                    <c:v>2012</c:v>
                  </c:pt>
                  <c:pt idx="23">
                    <c:v>2013</c:v>
                  </c:pt>
                  <c:pt idx="24">
                    <c:v>2014</c:v>
                  </c:pt>
                  <c:pt idx="25">
                    <c:v>2015</c:v>
                  </c:pt>
                  <c:pt idx="26">
                    <c:v>2016</c:v>
                  </c:pt>
                  <c:pt idx="27">
                    <c:v>2017</c:v>
                  </c:pt>
                  <c:pt idx="28">
                    <c:v>2018</c:v>
                  </c:pt>
                  <c:pt idx="29">
                    <c:v>2019</c:v>
                  </c:pt>
                  <c:pt idx="30">
                    <c:v>2020</c:v>
                  </c:pt>
                  <c:pt idx="31">
                    <c:v>2021</c:v>
                  </c:pt>
                  <c:pt idx="32">
                    <c:v>2022</c:v>
                  </c:pt>
                </c:lvl>
              </c:multiLvlStrCache>
            </c:multiLvlStrRef>
          </c:cat>
          <c:val>
            <c:numRef>
              <c:f>Sheet1!$C$2:$C$34</c:f>
              <c:numCache>
                <c:formatCode>General</c:formatCode>
                <c:ptCount val="33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7.849</c:v>
                </c:pt>
                <c:pt idx="30">
                  <c:v>8.03</c:v>
                </c:pt>
                <c:pt idx="31">
                  <c:v>8.02</c:v>
                </c:pt>
                <c:pt idx="32">
                  <c:v>8.01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4A"/>
                </a:solidFill>
                <a:latin typeface="JetBrains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7C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A8A8A"/>
                    </a:solidFill>
                    <a:latin typeface="JetBrains Mono"/>
                  </a:defRPr>
                </a:pPr>
                <a:r>
                  <a:rPr sz="900" b="0" i="0" u="none" strike="noStrike">
                    <a:solidFill>
                      <a:srgbClr val="8A8A8A"/>
                    </a:solidFill>
                    <a:latin typeface="JetBrains Mono"/>
                  </a:rPr>
                  <a:t>Deaths per 100,000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4A"/>
                </a:solidFill>
                <a:latin typeface="JetBrains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1E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4A4A"/>
              </a:solidFill>
              <a:latin typeface="JetBrains Mono"/>
              <a:cs typeface="JetBrains Mono"/>
            </a:defRPr>
          </a:pPr>
          <a:endParaRPr lang="en-US"/>
        </a:p>
      </c:txPr>
    </c:legend>
    <c:plotVisOnly val="1"/>
    <c:dispBlanksAs val="span"/>
  </c:chart>
  <c:spPr>
    <a:solidFill>
      <a:srgbClr val="F4F1EA"/>
    </a:solidFill>
    <a:ln w="12700" cap="flat">
      <a:solidFill>
        <a:srgbClr val="F4F1EA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MINING  10672349   ·   AN-NAJAH NATIONAL UNIVERSITY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88136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 Road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Safety Explorer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i="1" dirty="0">
                <a:solidFill>
                  <a:srgbClr val="0A0A0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with a Palestinian spotlight.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5120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BUILT BY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5349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Basmala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 · clustering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0" y="5349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Omar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 · anomaly detection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40880" y="53492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Osama</a:t>
            </a:r>
            <a:endParaRPr lang="en-US" sz="18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time-series · forecasting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26880" y="5349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MAY 2026</a:t>
            </a:r>
            <a:endParaRPr lang="en-US" sz="10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Dr.-Ing. Ahmed Abualia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338560" y="457200"/>
            <a:ext cx="201168" cy="201168"/>
          </a:xfrm>
          <a:prstGeom prst="rect">
            <a:avLst/>
          </a:prstGeom>
          <a:solidFill>
            <a:srgbClr val="C6FF3D"/>
          </a:solidFill>
          <a:ln w="12700">
            <a:solidFill>
              <a:srgbClr val="C6FF3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FRAMING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1088136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does the world's </a:t>
            </a:r>
            <a:pPr indent="0" marL="0">
              <a:buNone/>
            </a:pPr>
            <a:r>
              <a:rPr lang="en-US" sz="4800" i="1" dirty="0">
                <a:solidFill>
                  <a:srgbClr val="0A0A0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road-safety</a:t>
            </a:r>
            <a:pPr indent="0" marL="0">
              <a:buNone/>
            </a:pPr>
            <a:r>
              <a:rPr lang="en-US" sz="44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record look like, and where does </a:t>
            </a:r>
            <a:pPr indent="0" marL="0">
              <a:buNone/>
            </a:pPr>
            <a:r>
              <a:rPr lang="en-US" sz="44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Palestine</a:t>
            </a:r>
            <a:pPr indent="0" marL="0">
              <a:buNone/>
            </a:pPr>
            <a:r>
              <a:rPr lang="en-US" sz="44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sit in it?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4572000"/>
            <a:ext cx="347472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709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ROAD SAFETY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50292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1.19 million people die in road crashes each year — most of them in low- and middle-income countries.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4572000"/>
            <a:ext cx="347472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4709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A LOCAL LENS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43400" y="50292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analyses treat Palestine as a footnote, if they include it at all. We make it the reference point.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4572000"/>
            <a:ext cx="347472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4709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WE BUILT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0" y="50292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four-page Streamlit app powered by clustering, PCA, anomaly detection and forecasting.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Global Road Safety Explorer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DATA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1088136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10881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real datasets.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Public, peer-reviewed, freely licensed. Together they cover 171 countries and 30 years.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DATASET 01  ·  WHO 2023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Road safety indicators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425196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173 rows × 228 columns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Country-level: vehicle counts, fatality rates,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infrastructure, legislation, reporting quality.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Licensed CC BY-NC-SA 3.0 IGO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DATASET 02  ·  IHME 1990–2019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09360" y="36576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Road traffic deaths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309360" y="425196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8,010 rows × 6 columns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deaths and population for 210 countries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30 years. Palestine: 30 rows, ISO PSE.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Accessed via Kaggle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5943600"/>
            <a:ext cx="146304" cy="146304"/>
          </a:xfrm>
          <a:prstGeom prst="rect">
            <a:avLst/>
          </a:prstGeom>
          <a:solidFill>
            <a:srgbClr val="C6FF3D"/>
          </a:solidFill>
          <a:ln w="12700">
            <a:solidFill>
              <a:srgbClr val="C6F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PALESTINE NORMALIZED 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variant — "occupied Palestinian territory", "State of Palestine", "West Bank and Gaza Strip" — mapped to a single label across all notebooks and the upload pipeline.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Global Road Safety Explorer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METHOD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1088136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10881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techniques, integrated.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technique drives a specific page of the app. Clustering feeds PCA; both feed the map; forecasting feeds the trends view.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237744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CLEAN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4709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+ IHME, country names normalized, log-transformed vehicle counts.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532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BASMALA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3566160"/>
            <a:ext cx="237744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CLUSTER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37560" y="4709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K-Means K=4 on 27 features, anchor-based label stability.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5532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BASMALA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3566160"/>
            <a:ext cx="237744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REDUCE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035040" y="4709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 on 23 standardized features → 2D landscape + Isolation Forest.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5532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OMAR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732520" y="3566160"/>
            <a:ext cx="237744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32520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732520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FORECAST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732520" y="4709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ARIMA + Holt-Winters per country, 3-year projection, anomaly years.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32520" y="5532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OSAMA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732520" y="5897880"/>
            <a:ext cx="128016" cy="128016"/>
          </a:xfrm>
          <a:prstGeom prst="rect">
            <a:avLst/>
          </a:prstGeom>
          <a:solidFill>
            <a:srgbClr val="C6FF3D"/>
          </a:solidFill>
          <a:ln w="12700">
            <a:solidFill>
              <a:srgbClr val="C6FF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Global Road Safety Explorer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CLUSTERING  ·  BASMALA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1088136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10881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road-safety profiles.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K-Means on 27 country-level features. Cluster labels are normally arbitrary across re-runs, so we anchor PSE → 2, DEU → 1, IND → 0 to keep meanings stable.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260604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429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CLUSTER 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85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40080" y="4846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countries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51663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Developing-country road profile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623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motorization, mixed reporting quality.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20440" y="3291840"/>
            <a:ext cx="260604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3429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CLUSTER 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374904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53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3520440" y="4846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countries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20440" y="51663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Rich-country car culture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20440" y="5623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motorization, strong reporting, lower fatality rate per vehicle.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3291840"/>
            <a:ext cx="260604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429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CLUSTER 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374904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25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6400800" y="4846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countries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0" y="51663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Low-motorization mixed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5623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island states and lower-motorization countries. Palestine sits here.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805672" y="3429000"/>
            <a:ext cx="146304" cy="146304"/>
          </a:xfrm>
          <a:prstGeom prst="rect">
            <a:avLst/>
          </a:prstGeom>
          <a:solidFill>
            <a:srgbClr val="C6FF3D"/>
          </a:solidFill>
          <a:ln w="12700">
            <a:solidFill>
              <a:srgbClr val="C6FF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81160" y="3291840"/>
            <a:ext cx="260604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1160" y="3429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CLUSTER 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81160" y="374904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</a:t>
            </a:r>
            <a:endParaRPr lang="en-US" sz="7200" dirty="0"/>
          </a:p>
        </p:txBody>
      </p:sp>
      <p:sp>
        <p:nvSpPr>
          <p:cNvPr id="28" name="Text 26"/>
          <p:cNvSpPr/>
          <p:nvPr/>
        </p:nvSpPr>
        <p:spPr>
          <a:xfrm>
            <a:off x="9281160" y="4846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countries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281160" y="51663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Atypical reporting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281160" y="5623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 outliers, often with missing or unusual indicator patterns.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Global Road Safety Explorer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CLUSTERING  ·  BASMALA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1088136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10881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K = 4.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Elbow and silhouette inspection both point to four well-separated groups. A K = 8 trial was kept but never overwrites the K = 4 results.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ANCHORED REMAP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PSE</a:t>
            </a:r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→    cluster 2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DEU</a:t>
            </a:r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→    cluster 1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</a:t>
            </a:r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→    cluster 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5321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A4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Without this anchoring step every downstream file would silently break each time the model is re-fit.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309360" y="2011680"/>
            <a:ext cx="521208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19456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27</a:t>
            </a:r>
            <a:endParaRPr lang="en-US" sz="11000" dirty="0"/>
          </a:p>
        </p:txBody>
      </p:sp>
      <p:sp>
        <p:nvSpPr>
          <p:cNvPr id="11" name="Text 9"/>
          <p:cNvSpPr/>
          <p:nvPr/>
        </p:nvSpPr>
        <p:spPr>
          <a:xfrm>
            <a:off x="6309360" y="37490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after dropping raw fatality counts and log-transforming vehicle counts.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4480560"/>
            <a:ext cx="521208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466344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171</a:t>
            </a:r>
            <a:endParaRPr lang="en-US" sz="11000" dirty="0"/>
          </a:p>
        </p:txBody>
      </p:sp>
      <p:sp>
        <p:nvSpPr>
          <p:cNvPr id="14" name="Text 12"/>
          <p:cNvSpPr/>
          <p:nvPr/>
        </p:nvSpPr>
        <p:spPr>
          <a:xfrm>
            <a:off x="6309360" y="62179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countries clustered, joined into every page of the app.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Global Road Safety Explorer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DIMENSIONALITY  ·  OMAR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1088136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10881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 dimensions, flattened to two.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 on standardized numeric indicators. The two components together explain just under 40% of the variance — enough to read structure visually without overstating signal.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3474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23.83%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40080" y="44531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 captured by PC1.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3383280"/>
            <a:ext cx="3474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15.43%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297680" y="44531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 captured by PC2.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0" y="3383280"/>
            <a:ext cx="3657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39.26%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7955280" y="44531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— used as a visual approximation, not a model.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1088136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257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DRIVES PC1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55778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registered vehicles per 100k, child-restraint legislation, adherence to UN road safety conventions, WHO-estimated fatality rates.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5257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DRIVES PC2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9360" y="55778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Heavy trucks, buses, total registered vehicles, motorization volume — separates car-heavy economies from freight-heavy ones.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Global Road Safety Explorer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DIMENSIONALITY  ·  OMAR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1088136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Nine countries look unlike the rest.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Isolation Forest at 5% contamination flags countries whose multi-indicator pattern doesn't fit the global structure. Unusual is not the same as unsafe.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FLAGGED COUNTRIES  ·  RANKED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566928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611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3611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904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39044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Cook Islands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1970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CYP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41970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Cyprus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4897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63040" y="44897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Thailand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7823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47823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Georgia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074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63040" y="5074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United States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367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VGB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63040" y="53675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British Virgin Islands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6601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56601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Mexico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9527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MDV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63040" y="59527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Maldives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66560" y="3200400"/>
            <a:ext cx="475488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3291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AND PALESTINE  ·  NOT FLAGGED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66560" y="3657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Palestine sits at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0" y="397764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PC1 </a:t>
            </a:r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−0.27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PC2 </a:t>
            </a:r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−2.63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766560" y="5760720"/>
            <a:ext cx="146304" cy="146304"/>
          </a:xfrm>
          <a:prstGeom prst="rect">
            <a:avLst/>
          </a:prstGeom>
          <a:solidFill>
            <a:srgbClr val="C6FF3D"/>
          </a:solidFill>
          <a:ln w="12700">
            <a:solidFill>
              <a:srgbClr val="C6FF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57150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A4A4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Inside the cloud, not at its edge — a typical low-motorization profile, not a statistical outlier.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Global Road Safety Explorer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FORECASTING  ·  OSAMA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1088136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10881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models. ARIMA wins.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country gets ARIMA(1,1,1) and Holt-Winters fit on 1990–2016, tested on 2017–2019. The lower-error model is then used for the 2020–2022 forward projection.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PALESTINE  ·  HELD-OUT 2017–2019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57600"/>
          <a:ext cx="108813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40280"/>
                <a:gridCol w="224028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8A8A8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MODEL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8A8A8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MAE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8A8A8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RMSE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8A8A8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MAPE</a:t>
                      </a:r>
                      <a:endParaRPr lang="en-US" sz="10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A0A0A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ARIMA(1,1,1)</a:t>
                      </a:r>
                      <a:endParaRPr lang="en-US" sz="18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b="1" dirty="0">
                          <a:solidFill>
                            <a:srgbClr val="0A0A0A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0.28</a:t>
                      </a:r>
                      <a:endParaRPr lang="en-US" sz="2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b="1" dirty="0">
                          <a:solidFill>
                            <a:srgbClr val="0A0A0A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0.29</a:t>
                      </a:r>
                      <a:endParaRPr lang="en-US" sz="2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b="1" dirty="0">
                          <a:solidFill>
                            <a:srgbClr val="0A0A0A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3.60%</a:t>
                      </a:r>
                      <a:endParaRPr lang="en-US" sz="2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4A4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Holt-Winters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4A4A4A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0.34</a:t>
                      </a:r>
                      <a:endParaRPr lang="en-US" sz="2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4A4A4A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0.35</a:t>
                      </a:r>
                      <a:endParaRPr lang="en-US" sz="2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4A4A4A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4.38%</a:t>
                      </a:r>
                      <a:endParaRPr lang="en-US" sz="2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349240"/>
            <a:ext cx="1088136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577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4A4A4A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ARIMA wins because the residuals are autocorrelated — Palestine's death rate moves with momentum, not seasonality.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Global Road Safety Explorer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FORECASTING  ·  OSAMA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1088136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10881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Palestine, 1990 → 2022.</a:t>
            </a:r>
            <a:endParaRPr lang="en-US" sz="4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20240"/>
          <a:ext cx="71323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321040" y="2011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THE NUMBERS SAY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321040" y="2240280"/>
            <a:ext cx="320040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21040" y="24688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−47.6%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8321040" y="31729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road fatality rate per 100k from 1990 to 2019.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321040" y="374904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8.01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8321040" y="4453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ARIMA projection for 2022 — close to flat after the long decline.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321040" y="50292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1990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8321040" y="57332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only year flagged as a temporal anomaly — the historical peak.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Global Road Safety Explorer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A4A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THE APP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1088136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10881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Four pages, one pipeline.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three techniques surface in a Streamlit app. Anyone can also upload their own country-level CSV and run the same pipeline end-to-end.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530352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429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33832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Atlas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417320" y="395020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Choropleth map. Countries colored by cluster, Palestine starred.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3291840"/>
            <a:ext cx="530352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3429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95160" y="33832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995160" y="395020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Radar chart. Palestine against any four peer countries on all indicators.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892040"/>
            <a:ext cx="530352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029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49834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Landscape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417320" y="555040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 scatter of all 171 countries. Anomalies circled, Palestine starred.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4892040"/>
            <a:ext cx="5303520" cy="0"/>
          </a:xfrm>
          <a:prstGeom prst="line">
            <a:avLst/>
          </a:prstGeom>
          <a:noFill/>
          <a:ln w="9525">
            <a:solidFill>
              <a:srgbClr val="1F1F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5029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95160" y="49834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Trends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995160" y="555040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series + 3-year ARIMA projection. Anomaly years highlighted.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6172200"/>
            <a:ext cx="128016" cy="128016"/>
          </a:xfrm>
          <a:prstGeom prst="rect">
            <a:avLst/>
          </a:prstGeom>
          <a:solidFill>
            <a:srgbClr val="C6FF3D"/>
          </a:solidFill>
          <a:ln w="12700">
            <a:solidFill>
              <a:srgbClr val="C6F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6126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PLUS UPLOAD MODE 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 any country-level CSV; Palestine variants are normalized and the pipeline re-runs on the fly.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Global Road Safety Explorer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9848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HONESTY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1088136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Things this project </a:t>
            </a:r>
            <a:pPr indent="0" marL="0">
              <a:buNone/>
            </a:pPr>
            <a:r>
              <a:rPr lang="en-US" sz="5600" i="1" dirty="0">
                <a:solidFill>
                  <a:srgbClr val="C6FF3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does not</a:t>
            </a:r>
            <a:pPr indent="0" marL="0">
              <a:buNone/>
            </a:pPr>
            <a:r>
              <a:rPr lang="en-US" sz="52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do.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80160" y="28895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does not predict the future.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92240" y="290779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5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Forecasts are statistical projections under stable conditions — not predictions of policy, conflict, or shock.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36667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does not capture COVID-19.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92240" y="368503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5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IHME deaths end in 2019. The 2020–2022 forecasts assume the prior trend, not the pandemic disruption.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480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44439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does not rate countries.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446227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5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 names describe road-safety profiles, not policy quality. "Anomalous" means unusual, not unsafe.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52212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1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 does not bypass data quality.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92240" y="523951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5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indicators are self-reported. Reporting strength itself varies — and that variation shows up in the model.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6172200"/>
            <a:ext cx="1088136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github.com/Baasmaala/road-safety-explorer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63840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i="1" dirty="0">
                <a:solidFill>
                  <a:srgbClr val="C6FF3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Thank you.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An-Najah National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Road Safety Explorer</dc:title>
  <dc:subject>PptxGenJS Presentation</dc:subject>
  <dc:creator>Basmala, Omar, Osama</dc:creator>
  <cp:lastModifiedBy>Basmala, Omar, Osama</cp:lastModifiedBy>
  <cp:revision>1</cp:revision>
  <dcterms:created xsi:type="dcterms:W3CDTF">2026-05-16T17:38:44Z</dcterms:created>
  <dcterms:modified xsi:type="dcterms:W3CDTF">2026-05-16T17:38:44Z</dcterms:modified>
</cp:coreProperties>
</file>